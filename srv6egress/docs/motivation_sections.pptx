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§0.1  社会課題 ― k8s に「経路意図」を書く OSS API が無い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現代の DC は multi-homed が標準。だが k8s から「どのテナントをどの transit に出すか」を</a:t>
            </a:r>
          </a:p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tenant 単位で宣言的に書く OSS API が不足 → intent と mechanism が分離していない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406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40680" cy="566928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(a) path intent ギャップ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batch=安い transit / 低遅延=速い transit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を k8s から記述できない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4406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44068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(b) compliance / 主権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944368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「特定 tenant は特定経路」を宣言・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validation・GitOps 管理する手段が無い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0520"/>
            <a:ext cx="54406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440680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(c) 障害耐性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18888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多重 transit でも片肺障害に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k8s 側から動的追従できない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160520"/>
            <a:ext cx="54406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440680" cy="566928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(d) 5G / telco 統合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818888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SR-TE backbone の path class を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k8s pod が意識できない「leaf」のまま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11247120" cy="54864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→ 運用は手作業・属人化。これを宣言的に解くのが本研究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§0.2  既存手法とその限界 ― 抜けているのは「テナント単位の経路クラス」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200400" cy="71323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手法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1828800" cy="71323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per-tenant
経路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234440"/>
            <a:ext cx="1828800" cy="71323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抽象化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234440"/>
            <a:ext cx="1554480" cy="71323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234440"/>
            <a:ext cx="1920240" cy="71323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multi-intent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47672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Cilium OSS Egress GW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947672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947672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IP のみ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947672"/>
            <a:ext cx="155448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947672"/>
            <a:ext cx="192024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39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Cilium Enterprise SRv6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606039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606039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明示SID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606039"/>
            <a:ext cx="155448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✗商用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606039"/>
            <a:ext cx="192024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64407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Calico OSS Egress GW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264407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264407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IP のみ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264407"/>
            <a:ext cx="155448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264407"/>
            <a:ext cx="192024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22775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TPC / Istio egress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922775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922775"/>
            <a:ext cx="182880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NAT/L7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922775"/>
            <a:ext cx="155448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? /✓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922775"/>
            <a:ext cx="1920240" cy="65836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81143"/>
            <a:ext cx="3200400" cy="658368"/>
          </a:xfrm>
          <a:prstGeom prst="roundRect">
            <a:avLst/>
          </a:prstGeom>
          <a:solidFill>
            <a:srgbClr val="DDF0E3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本研究 (color)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581143"/>
            <a:ext cx="1828800" cy="658368"/>
          </a:xfrm>
          <a:prstGeom prst="roundRect">
            <a:avLst/>
          </a:prstGeom>
          <a:solidFill>
            <a:srgbClr val="DDF0E3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4581143"/>
            <a:ext cx="1828800" cy="658368"/>
          </a:xfrm>
          <a:prstGeom prst="roundRect">
            <a:avLst/>
          </a:prstGeom>
          <a:solidFill>
            <a:srgbClr val="DDF0E3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color
(intent)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581143"/>
            <a:ext cx="1554480" cy="658368"/>
          </a:xfrm>
          <a:prstGeom prst="roundRect">
            <a:avLst/>
          </a:prstGeom>
          <a:solidFill>
            <a:srgbClr val="DDF0E3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4581143"/>
            <a:ext cx="1920240" cy="658368"/>
          </a:xfrm>
          <a:prstGeom prst="roundRect">
            <a:avLst/>
          </a:prstGeom>
          <a:solidFill>
            <a:srgbClr val="DDF0E3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85231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最も近い Cilium Enterprise SRv6 L3VPN に対する 4 つの構造的差別化: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42431"/>
            <a:ext cx="2743200" cy="86868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①抽象化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明示SID→color(intent)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5742431"/>
            <a:ext cx="2743200" cy="86868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②粒度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1tenant×N intent が自然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9904" y="5742431"/>
            <a:ext cx="2743200" cy="868680"/>
          </a:xfrm>
          <a:prstGeom prst="roundRect">
            <a:avLst/>
          </a:prstGeom>
          <a:solidFill>
            <a:srgbClr val="FCEFD8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D9821E"/>
                </a:solidFill>
                <a:latin typeface="Yu Gothic"/>
                <a:ea typeface="Yu Gothic"/>
                <a:cs typeface="Yu Gothic"/>
              </a:rPr>
              <a:t>③統合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egress GW+SR-TE を1 CRD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06256" y="5742431"/>
            <a:ext cx="2743200" cy="868680"/>
          </a:xfrm>
          <a:prstGeom prst="roundRect">
            <a:avLst/>
          </a:prstGeom>
          <a:solidFill>
            <a:srgbClr val="FBE3E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④OSS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Calico-VPP OSS で初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§0.3  抽象化の必要性 ― color=intent は IETF 標準で採用済み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113385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「explicit SID を operator が直接書けば?」への答え:出典を 3 段階に分け、中核は normative RFC に帰着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6400800" cy="1417320"/>
          </a:xfrm>
          <a:prstGeom prst="roundRect">
            <a:avLst/>
          </a:prstGeom>
          <a:solidFill>
            <a:srgbClr val="DDF0E3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828800" cy="141732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1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37360"/>
            <a:ext cx="429768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9256: color=intent(§2.1)/ color steering(§8.4)</a:t>
            </a:r>
          </a:p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          / BSID network opacity(§6)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9012: color semantics は operator scope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8402: per-flow state は ingress=headend に限定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6400800" cy="914400"/>
          </a:xfrm>
          <a:prstGeom prst="roundRect">
            <a:avLst/>
          </a:prstGeom>
          <a:solidFill>
            <a:srgbClr val="FCEFD8"/>
          </a:solidFill>
          <a:ln w="2540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828800" cy="914400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2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個人draft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246120"/>
            <a:ext cx="42976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filsfils considerations: RFC §6 の運用上の例示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(BSID が domain churn を source 設定から隠す)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60"/>
            <a:ext cx="6400800" cy="77724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1828800" cy="77724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3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初期draft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297680"/>
            <a:ext cx="429768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intent-aware routing: Data Sovereignty 等の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use case = 方向性の傍証(権威ではない)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645920"/>
            <a:ext cx="4617720" cy="1554480"/>
          </a:xfrm>
          <a:prstGeom prst="roundRect">
            <a:avLst/>
          </a:prstGeom>
          <a:solidFill>
            <a:srgbClr val="DEEBF7"/>
          </a:solidFill>
          <a:ln w="254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結論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「抽象化が必要か」は RFC 9256 で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既に決着。本研究の問いは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「それを k8s でどう実装するか」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291840"/>
            <a:ext cx="4617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なぜ k8s で explicit SID が不適切か</a:t>
            </a:r>
          </a:p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path の消費者(namespace 所有者)と</a:t>
            </a:r>
          </a:p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network operator が組織的に別。</a:t>
            </a:r>
          </a:p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SID 直書きは workload に topology 知識を強要。</a:t>
            </a:r>
          </a:p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color = 境界を跨ぐ安定契約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11247120" cy="128016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本研究 = 確立済みの IETF intent 抽象を k8s declarative model へ写像する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2C44D"/>
                </a:solidFill>
                <a:latin typeface="Yu Gothic"/>
                <a:ea typeface="Yu Gothic"/>
                <a:cs typeface="Yu Gothic"/>
              </a:rPr>
              <a:t>(A) CRD に color を first-class field  (B) BGP reconcile chain を Calico-VPP に統合  (C) per-VRF eBGP で multi-domain 再現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§0.4  本研究のアプローチと貢献 ― 3 つの設計選択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IETF SR Policy の intent 抽象を、k8s の宣言的 reconcile chain として実装する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57400" cy="109728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EgressPolicy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CRD (color)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194560"/>
            <a:ext cx="32004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2057400" cy="109728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bgp-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controller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194560"/>
            <a:ext cx="32004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828800"/>
            <a:ext cx="2057400" cy="109728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BGP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(color ext-comm)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9480" y="2194560"/>
            <a:ext cx="32004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1828800"/>
            <a:ext cx="2057400" cy="109728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calico-vpp-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agent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46920" y="2194560"/>
            <a:ext cx="32004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1828800"/>
            <a:ext cx="2057400" cy="1097280"/>
          </a:xfrm>
          <a:prstGeom prst="roundRect">
            <a:avLst/>
          </a:prstGeom>
          <a:solidFill>
            <a:srgbClr val="FCEFD8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D9821E"/>
                </a:solidFill>
                <a:latin typeface="Yu Gothic"/>
                <a:ea typeface="Yu Gothic"/>
                <a:cs typeface="Yu Gothic"/>
              </a:rPr>
              <a:t>VPP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(SRv6 steer)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3703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3703320" cy="96012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(a) color を first-class API 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32461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既存 egress GW は「どの IP で出るか」だけ。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color=path intent を CRD のフィールドに昇格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383280"/>
            <a:ext cx="3703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33672" y="3383280"/>
            <a:ext cx="3703320" cy="96012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(b) BGP 配布で宣言↔dataplane 接続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480560"/>
            <a:ext cx="32461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CRD→controller→BGP→agent→VPP を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宣言的 reconcile chain で一気通貫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3383280"/>
            <a:ext cx="3703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10144" y="3383280"/>
            <a:ext cx="3703320" cy="960120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(c) per-VRF eBGP で carrier PE 構造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480560"/>
            <a:ext cx="32461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static route でなく per-upstream VRF+eBGP。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backbone 一体化(v1alpha2)の scaffolding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§0.5  Motivation ↔ Evaluation の対応(1:1 で立証)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§0.1 の各社会課題が、評価でそのまま立証される設計になっている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029200" cy="64008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社会課題(§0.1)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029200" cy="64008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評価での立証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029200" cy="749808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(a) tenant 単位 path intent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2706624"/>
            <a:ext cx="68580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2514600"/>
            <a:ext cx="5029200" cy="749808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color 分岐の pcap 立証(A→ISP-A / B→ISP-B)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55848"/>
            <a:ext cx="5029200" cy="749808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(b) compliance 強制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15000" y="3547872"/>
            <a:ext cx="68580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3355848"/>
            <a:ext cx="5029200" cy="749808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EgressPolicy lifecycle(selector+validation+enforcement)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97096"/>
            <a:ext cx="5029200" cy="749808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(c) 障害耐性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4389120"/>
            <a:ext cx="68580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4197096"/>
            <a:ext cx="5029200" cy="749808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eBGP withdraw → 自動 failover を pcap 立証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38344"/>
            <a:ext cx="5029200" cy="749808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(d) 5G/telco 拡張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15000" y="5230368"/>
            <a:ext cx="685800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5038344"/>
            <a:ext cx="5029200" cy="749808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v1alpha2 roadmap(§8.5)で proposed extension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97879"/>
            <a:ext cx="10881360" cy="54864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→ 「機能・アーキ・API」を評価軸に、各 motivation を実機で立証(性能比較は scope 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§0.6  References ― 出典強度を 3 段階で明示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0.6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normative RFC を中核に、Internet-Draft は補強/例示として分離(査読耐性のため)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1783080"/>
          </a:xfrm>
          <a:prstGeom prst="roundRect">
            <a:avLst/>
          </a:prstGeom>
          <a:solidFill>
            <a:srgbClr val="DDF0E3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194560" cy="178308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1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Normative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755648"/>
            <a:ext cx="8686800" cy="1600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9256  Segment Routing Policy Architecture ― color=intent(§2.1)/ steering(§8.4)/ BSID opacity(§6)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9012  BGP Tunnel Encapsulation ― Color Extended Community、semantics は operator scope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8402  Segment Routing Architecture ― per-flow state を ingress(headend)に限定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1247120" cy="1051560"/>
          </a:xfrm>
          <a:prstGeom prst="roundRect">
            <a:avLst/>
          </a:prstGeom>
          <a:solidFill>
            <a:srgbClr val="FCEFD8"/>
          </a:solidFill>
          <a:ln w="2540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2194560" cy="1051560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2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個人draft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639312"/>
            <a:ext cx="8686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draft-filsfils-spring-sr-policy-considerations(Cisco 筆頭、de-facto 参照)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― RFC 9256 §6 の運用上の例示(BSID が domain churn を source 設定から隠す)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100584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2194560" cy="100584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Tier 3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初期draft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828032"/>
            <a:ext cx="86868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draft-hr-spring-intentaware-routing-using-color(初期個人 draft)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― intent の 3 次元 + Data Sovereignty/Multi-Tenant 等。方向性の傍証としてのみ引用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既存手法調査(§0.2): Cilium / Isovalent docs・KubeCon talk・Cisco SR-TE 資料(本文 §0.6 に URL 一覧)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研究概要 ― ひとことで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Pod の外向き通信を、テナントごとに「どの経路で出すか(intent=color)」を CRD で宣言的に制御する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011680" cy="1371600"/>
          </a:xfrm>
          <a:prstGeom prst="roundRect">
            <a:avLst/>
          </a:prstGeom>
          <a:solidFill>
            <a:srgbClr val="DDF0E3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Pod / テナント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(namespace)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77639"/>
            <a:ext cx="2011680" cy="91440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EgressPolicy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color: 100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697480"/>
            <a:ext cx="640080" cy="45720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240280"/>
            <a:ext cx="2468880" cy="137160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headend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= Pod ノード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SRv6 で encap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2697480"/>
            <a:ext cx="640080" cy="45720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2468880" cy="137160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6FB5"/>
                </a:solidFill>
                <a:latin typeface="Yu Gothic"/>
                <a:ea typeface="Yu Gothic"/>
                <a:cs typeface="Yu Gothic"/>
              </a:rPr>
              <a:t>egress GW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decap → VRF 振分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15400" y="2697480"/>
            <a:ext cx="640080" cy="45720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920240"/>
            <a:ext cx="2103120" cy="914400"/>
          </a:xfrm>
          <a:prstGeom prst="roundRect">
            <a:avLst/>
          </a:prstGeom>
          <a:solidFill>
            <a:srgbClr val="DDF0E3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ISP-A(低遅延)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063240"/>
            <a:ext cx="2103120" cy="914400"/>
          </a:xfrm>
          <a:prstGeom prst="roundRect">
            <a:avLst/>
          </a:prstGeom>
          <a:solidFill>
            <a:srgbClr val="FCEFD8"/>
          </a:solidFill>
          <a:ln w="15875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D9821E"/>
                </a:solidFill>
                <a:latin typeface="Yu Gothic"/>
                <a:ea typeface="Yu Gothic"/>
                <a:cs typeface="Yu Gothic"/>
              </a:rPr>
              <a:t>ISP-B(低コスト)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39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color = 経路の「意図」(RFC 9256)。実経路は controller が解決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32120"/>
            <a:ext cx="11247120" cy="100584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= 既存 egress GW(「どの IP で出るか」だけ)に</a:t>
            </a:r>
          </a:p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2C44D"/>
                </a:solidFill>
                <a:latin typeface="Yu Gothic"/>
                <a:ea typeface="Yu Gothic"/>
                <a:cs typeface="Yu Gothic"/>
              </a:rPr>
              <a:t>「どういう経路で出るか(color)」の選択軸を first-class で足す研究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何ができるようになるか ― Before /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効果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194560"/>
          </a:xfrm>
          <a:prstGeom prst="roundRect">
            <a:avLst/>
          </a:prstGeom>
          <a:solidFill>
            <a:srgbClr val="FBE3E0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Before(既存 egress GW)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01168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全テナント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の Pod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2423160"/>
            <a:ext cx="640080" cy="41148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2011680"/>
            <a:ext cx="1828800" cy="118872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一律の出口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(色なし)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212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→ コスト/compliance/遅延を作り分けられない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394960" cy="4206240"/>
          </a:xfrm>
          <a:prstGeom prst="roundRect">
            <a:avLst/>
          </a:prstGeom>
          <a:solidFill>
            <a:srgbClr val="DDF0E3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3949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After(本研究)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18288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tenant A</a:t>
            </a:r>
          </a:p>
        </p:txBody>
      </p:sp>
      <p:sp>
        <p:nvSpPr>
          <p:cNvPr id="14" name="Chevron 13"/>
          <p:cNvSpPr/>
          <p:nvPr/>
        </p:nvSpPr>
        <p:spPr>
          <a:xfrm>
            <a:off x="8412480" y="2011680"/>
            <a:ext cx="1143000" cy="82296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66544"/>
            <a:ext cx="1143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color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011680"/>
            <a:ext cx="1920240" cy="82296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ISP-A 低遅延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971800"/>
            <a:ext cx="18288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tenant B</a:t>
            </a:r>
          </a:p>
        </p:txBody>
      </p:sp>
      <p:sp>
        <p:nvSpPr>
          <p:cNvPr id="18" name="Chevron 17"/>
          <p:cNvSpPr/>
          <p:nvPr/>
        </p:nvSpPr>
        <p:spPr>
          <a:xfrm>
            <a:off x="8412480" y="2971800"/>
            <a:ext cx="1143000" cy="822960"/>
          </a:xfrm>
          <a:prstGeom prst="chevron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026664"/>
            <a:ext cx="11430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color 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971800"/>
            <a:ext cx="1920240" cy="822960"/>
          </a:xfrm>
          <a:prstGeom prst="roundRect">
            <a:avLst/>
          </a:prstGeom>
          <a:solidFill>
            <a:srgbClr val="FCEFD8"/>
          </a:solidFill>
          <a:ln w="15875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ISP-B 低コスト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023360"/>
            <a:ext cx="4937760" cy="12801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2C44D"/>
                </a:solidFill>
                <a:latin typeface="Yu Gothic"/>
                <a:ea typeface="Yu Gothic"/>
                <a:cs typeface="Yu Gothic"/>
              </a:rPr>
              <a:t>kind: EgressPolicy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selector: {tenant: a}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egress: { color: 100 }   # 意図を書くだけ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15000"/>
            <a:ext cx="11247120" cy="86868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テナントごとに『どの経路で出すか』を CRD 一行(color)で宣言 → BGP 配布 → SRv6 で実経路に反映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どこまで実装したか ― 実装状況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3-VM lab で SRv6 dataplane まで実機検証済み。本番化前の stub が一部残る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783080" cy="105156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CRD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v1alpha1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1143000" cy="36576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0280" y="1920240"/>
            <a:ext cx="16459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600200"/>
            <a:ext cx="1783080" cy="105156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bgp-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542032"/>
            <a:ext cx="1143000" cy="36576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✅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87952" y="1920240"/>
            <a:ext cx="16459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1600200"/>
            <a:ext cx="1783080" cy="1051560"/>
          </a:xfrm>
          <a:prstGeom prst="roundRect">
            <a:avLst/>
          </a:prstGeom>
          <a:solidFill>
            <a:srgbClr val="FCEFD8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9821E"/>
                </a:solidFill>
                <a:latin typeface="Yu Gothic"/>
                <a:ea typeface="Yu Gothic"/>
                <a:cs typeface="Yu Gothic"/>
              </a:rPr>
              <a:t>BGP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配布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3" y="2542032"/>
            <a:ext cx="1143000" cy="365760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⚙ stub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35624" y="1920240"/>
            <a:ext cx="16459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1600200"/>
            <a:ext cx="1783080" cy="1051560"/>
          </a:xfrm>
          <a:prstGeom prst="roundRect">
            <a:avLst/>
          </a:prstGeom>
          <a:solidFill>
            <a:srgbClr val="FCEFD8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9821E"/>
                </a:solidFill>
                <a:latin typeface="Yu Gothic"/>
                <a:ea typeface="Yu Gothic"/>
                <a:cs typeface="Yu Gothic"/>
              </a:rPr>
              <a:t>agent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hook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0255" y="2542032"/>
            <a:ext cx="1143000" cy="365760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⚙ skel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83296" y="1920240"/>
            <a:ext cx="16459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600200"/>
            <a:ext cx="1783080" cy="105156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vpp-route-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sync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542032"/>
            <a:ext cx="1143000" cy="36576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✅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30967" y="1920240"/>
            <a:ext cx="164592" cy="36576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95559" y="1600200"/>
            <a:ext cx="1783080" cy="1051560"/>
          </a:xfrm>
          <a:prstGeom prst="roundRect">
            <a:avLst/>
          </a:prstGeom>
          <a:solidFill>
            <a:srgbClr val="DDF0E3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VPP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SRv6/VRF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599" y="2542032"/>
            <a:ext cx="1143000" cy="36576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53212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5532120" cy="566928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✅ 実装 + 実機検証済み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51206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・CRD:apply / validation 実機OK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・bgp-controller:reconcile / finalizer 実機OK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・SPECA 指摘(uniqueness/restart/pool)も修正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・lab:egress node + sim-ISP×2 + eBGP + VIP広告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・vpp-route-sync:gobgp RIB → VPP VRF FIB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・E2E:SRv6 decap→VRF→ISP ping + 動的 failover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46120"/>
            <a:ext cx="553212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3246120"/>
            <a:ext cx="5532120" cy="566928"/>
          </a:xfrm>
          <a:prstGeom prst="roundRect">
            <a:avLst/>
          </a:prstGeom>
          <a:solidFill>
            <a:srgbClr val="D9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⚙ stub / skeleton(本番化前)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512064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・VIP allocator:in-memory stub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  (合成 VIP。本番は Calico IPAM)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・BGP distributor:logging stub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  (本番は gobgp で Color Ext-Community 配布)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・agent hook:manager/watcher は実装+unit test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A5A5A"/>
                </a:solidFill>
                <a:latin typeface="Yu Gothic"/>
                <a:ea typeface="Yu Gothic"/>
                <a:cs typeface="Yu Gothic"/>
              </a:rPr>
              <a:t>  済だが agent 本体への wire-up は未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"/>
            <a:ext cx="1042416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今後の実装予定 ― v1alpha1 完成 → v1alpha2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01168"/>
            <a:ext cx="1371600" cy="512064"/>
          </a:xfrm>
          <a:prstGeom prst="round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予定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残りは「stub→本番 backend」「headend steering の wire-up」、その先に backbone 一体化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1247120" cy="2331720"/>
          </a:xfrm>
          <a:prstGeom prst="roundRect">
            <a:avLst/>
          </a:prstGeom>
          <a:solidFill>
            <a:srgbClr val="DEEBF7"/>
          </a:solidFill>
          <a:ln w="254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834640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近期:v1alpha1 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697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697480" cy="5486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SNAT(cnat)統合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pod src → per-tenant VIP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77440"/>
            <a:ext cx="2697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377440"/>
            <a:ext cx="2697480" cy="5486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headend SR steering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agent を main に wire-up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(SRv6Provider + pod cache)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2697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2697480" cy="5486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本番 backend 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Calico IPAM allocator /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gobgp distributor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377440"/>
            <a:ext cx="2697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2377440"/>
            <a:ext cx="2697480" cy="5486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route-sync を in-agent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exec-vppctl → vpplink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60"/>
            <a:ext cx="11247120" cy="1828800"/>
          </a:xfrm>
          <a:prstGeom prst="roundRect">
            <a:avLst/>
          </a:prstGeom>
          <a:solidFill>
            <a:srgbClr val="DDF0E3"/>
          </a:solidFill>
          <a:ln w="254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251960"/>
            <a:ext cx="2834640" cy="566928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将来:v1alpha2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37760"/>
            <a:ext cx="3611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937760"/>
            <a:ext cx="3611880" cy="457200"/>
          </a:xfrm>
          <a:prstGeom prst="roundRect">
            <a:avLst/>
          </a:prstGeom>
          <a:solidFill>
            <a:srgbClr val="D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SRv6 backbone 一体化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13248"/>
            <a:ext cx="324612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RFC 9252 services SAFI で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color を backbone まで連続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937760"/>
            <a:ext cx="3611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0" y="4937760"/>
            <a:ext cx="3611880" cy="457200"/>
          </a:xfrm>
          <a:prstGeom prst="roundRect">
            <a:avLst/>
          </a:prstGeom>
          <a:solidFill>
            <a:srgbClr val="D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HA / 冗長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413248"/>
            <a:ext cx="324612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anycast / 複数 egress endpoint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937760"/>
            <a:ext cx="3611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4937760"/>
            <a:ext cx="3611880" cy="457200"/>
          </a:xfrm>
          <a:prstGeom prst="roundRect">
            <a:avLst/>
          </a:prstGeom>
          <a:solidFill>
            <a:srgbClr val="D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D46"/>
                </a:solidFill>
                <a:latin typeface="Yu Gothic"/>
                <a:ea typeface="Yu Gothic"/>
                <a:cs typeface="Yu Gothic"/>
              </a:rPr>
              <a:t>dual-stack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5413248"/>
            <a:ext cx="324612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F355E"/>
                </a:solidFill>
                <a:latin typeface="Yu Gothic"/>
                <a:ea typeface="Yu Gothic"/>
                <a:cs typeface="Yu Gothic"/>
              </a:rPr>
              <a:t>End.DT4 / IPv4 対応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144768"/>
            <a:ext cx="11247120" cy="621792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v1alpha1「k8s egress GW を SR-TE 化」 → v1alpha2「k8s pod を carrier SRv6 backbone の first-class endpoint に」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